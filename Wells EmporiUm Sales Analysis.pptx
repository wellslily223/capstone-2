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2A93E-33E7-6436-4C4B-205D99B574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916F8C-443F-8FDE-02AF-A5C4DED047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1D9068-D81B-763C-F245-6F108881666F}"/>
              </a:ext>
            </a:extLst>
          </p:cNvPr>
          <p:cNvSpPr>
            <a:spLocks noGrp="1"/>
          </p:cNvSpPr>
          <p:nvPr>
            <p:ph type="dt" sz="half" idx="10"/>
          </p:nvPr>
        </p:nvSpPr>
        <p:spPr/>
        <p:txBody>
          <a:bodyPr/>
          <a:lstStyle/>
          <a:p>
            <a:fld id="{2796AA04-2357-4AE3-A2AB-CA73DAB68ADA}" type="datetimeFigureOut">
              <a:rPr lang="en-US" smtClean="0"/>
              <a:t>5/29/2026</a:t>
            </a:fld>
            <a:endParaRPr lang="en-US"/>
          </a:p>
        </p:txBody>
      </p:sp>
      <p:sp>
        <p:nvSpPr>
          <p:cNvPr id="5" name="Footer Placeholder 4">
            <a:extLst>
              <a:ext uri="{FF2B5EF4-FFF2-40B4-BE49-F238E27FC236}">
                <a16:creationId xmlns:a16="http://schemas.microsoft.com/office/drawing/2014/main" id="{040155AB-528A-87CA-1D8A-3340F2BE3B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AF113C-4BE9-EC59-D505-C778DDD829F3}"/>
              </a:ext>
            </a:extLst>
          </p:cNvPr>
          <p:cNvSpPr>
            <a:spLocks noGrp="1"/>
          </p:cNvSpPr>
          <p:nvPr>
            <p:ph type="sldNum" sz="quarter" idx="12"/>
          </p:nvPr>
        </p:nvSpPr>
        <p:spPr/>
        <p:txBody>
          <a:bodyPr/>
          <a:lstStyle/>
          <a:p>
            <a:fld id="{2EA262A3-4FAD-496B-9326-4948F2480CA6}" type="slidenum">
              <a:rPr lang="en-US" smtClean="0"/>
              <a:t>‹#›</a:t>
            </a:fld>
            <a:endParaRPr lang="en-US"/>
          </a:p>
        </p:txBody>
      </p:sp>
    </p:spTree>
    <p:extLst>
      <p:ext uri="{BB962C8B-B14F-4D97-AF65-F5344CB8AC3E}">
        <p14:creationId xmlns:p14="http://schemas.microsoft.com/office/powerpoint/2010/main" val="207823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6CE94-C543-DD1A-2E37-9842077408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520A09-F0D5-CB5A-3634-6057C0E628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4086AF-12C5-8515-089C-4895D49A1674}"/>
              </a:ext>
            </a:extLst>
          </p:cNvPr>
          <p:cNvSpPr>
            <a:spLocks noGrp="1"/>
          </p:cNvSpPr>
          <p:nvPr>
            <p:ph type="dt" sz="half" idx="10"/>
          </p:nvPr>
        </p:nvSpPr>
        <p:spPr/>
        <p:txBody>
          <a:bodyPr/>
          <a:lstStyle/>
          <a:p>
            <a:fld id="{2796AA04-2357-4AE3-A2AB-CA73DAB68ADA}" type="datetimeFigureOut">
              <a:rPr lang="en-US" smtClean="0"/>
              <a:t>5/29/2026</a:t>
            </a:fld>
            <a:endParaRPr lang="en-US"/>
          </a:p>
        </p:txBody>
      </p:sp>
      <p:sp>
        <p:nvSpPr>
          <p:cNvPr id="5" name="Footer Placeholder 4">
            <a:extLst>
              <a:ext uri="{FF2B5EF4-FFF2-40B4-BE49-F238E27FC236}">
                <a16:creationId xmlns:a16="http://schemas.microsoft.com/office/drawing/2014/main" id="{15D75893-DB50-3B1F-1569-C48A043DCF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1F8B5D-3524-2564-F9F6-78A3231CD37A}"/>
              </a:ext>
            </a:extLst>
          </p:cNvPr>
          <p:cNvSpPr>
            <a:spLocks noGrp="1"/>
          </p:cNvSpPr>
          <p:nvPr>
            <p:ph type="sldNum" sz="quarter" idx="12"/>
          </p:nvPr>
        </p:nvSpPr>
        <p:spPr/>
        <p:txBody>
          <a:bodyPr/>
          <a:lstStyle/>
          <a:p>
            <a:fld id="{2EA262A3-4FAD-496B-9326-4948F2480CA6}" type="slidenum">
              <a:rPr lang="en-US" smtClean="0"/>
              <a:t>‹#›</a:t>
            </a:fld>
            <a:endParaRPr lang="en-US"/>
          </a:p>
        </p:txBody>
      </p:sp>
    </p:spTree>
    <p:extLst>
      <p:ext uri="{BB962C8B-B14F-4D97-AF65-F5344CB8AC3E}">
        <p14:creationId xmlns:p14="http://schemas.microsoft.com/office/powerpoint/2010/main" val="3279630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83EAF-F1EE-397C-7335-9713565548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5E09A6-5CA6-0ACF-B500-C1E0562D5E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59BB75-6970-BA0D-03B7-B09D1266F5FA}"/>
              </a:ext>
            </a:extLst>
          </p:cNvPr>
          <p:cNvSpPr>
            <a:spLocks noGrp="1"/>
          </p:cNvSpPr>
          <p:nvPr>
            <p:ph type="dt" sz="half" idx="10"/>
          </p:nvPr>
        </p:nvSpPr>
        <p:spPr/>
        <p:txBody>
          <a:bodyPr/>
          <a:lstStyle/>
          <a:p>
            <a:fld id="{2796AA04-2357-4AE3-A2AB-CA73DAB68ADA}" type="datetimeFigureOut">
              <a:rPr lang="en-US" smtClean="0"/>
              <a:t>5/29/2026</a:t>
            </a:fld>
            <a:endParaRPr lang="en-US"/>
          </a:p>
        </p:txBody>
      </p:sp>
      <p:sp>
        <p:nvSpPr>
          <p:cNvPr id="5" name="Footer Placeholder 4">
            <a:extLst>
              <a:ext uri="{FF2B5EF4-FFF2-40B4-BE49-F238E27FC236}">
                <a16:creationId xmlns:a16="http://schemas.microsoft.com/office/drawing/2014/main" id="{B1BF23B0-045B-CC18-2C29-9CFB7B2BA0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58C4B1-5CAA-72B8-2FCC-69ECD0373411}"/>
              </a:ext>
            </a:extLst>
          </p:cNvPr>
          <p:cNvSpPr>
            <a:spLocks noGrp="1"/>
          </p:cNvSpPr>
          <p:nvPr>
            <p:ph type="sldNum" sz="quarter" idx="12"/>
          </p:nvPr>
        </p:nvSpPr>
        <p:spPr/>
        <p:txBody>
          <a:bodyPr/>
          <a:lstStyle/>
          <a:p>
            <a:fld id="{2EA262A3-4FAD-496B-9326-4948F2480CA6}" type="slidenum">
              <a:rPr lang="en-US" smtClean="0"/>
              <a:t>‹#›</a:t>
            </a:fld>
            <a:endParaRPr lang="en-US"/>
          </a:p>
        </p:txBody>
      </p:sp>
    </p:spTree>
    <p:extLst>
      <p:ext uri="{BB962C8B-B14F-4D97-AF65-F5344CB8AC3E}">
        <p14:creationId xmlns:p14="http://schemas.microsoft.com/office/powerpoint/2010/main" val="907418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2EC0F-B468-DF85-C494-7A3A815757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89D807-BBC6-E344-553B-393D941AA0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36F0C1-02F5-2F00-36CB-A2A2A0D8D9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2B05CC-6D97-A899-D880-F77CFEB11B52}"/>
              </a:ext>
            </a:extLst>
          </p:cNvPr>
          <p:cNvSpPr>
            <a:spLocks noGrp="1"/>
          </p:cNvSpPr>
          <p:nvPr>
            <p:ph type="dt" sz="half" idx="10"/>
          </p:nvPr>
        </p:nvSpPr>
        <p:spPr/>
        <p:txBody>
          <a:bodyPr/>
          <a:lstStyle/>
          <a:p>
            <a:fld id="{2796AA04-2357-4AE3-A2AB-CA73DAB68ADA}" type="datetimeFigureOut">
              <a:rPr lang="en-US" smtClean="0"/>
              <a:t>5/29/2026</a:t>
            </a:fld>
            <a:endParaRPr lang="en-US"/>
          </a:p>
        </p:txBody>
      </p:sp>
      <p:sp>
        <p:nvSpPr>
          <p:cNvPr id="6" name="Footer Placeholder 5">
            <a:extLst>
              <a:ext uri="{FF2B5EF4-FFF2-40B4-BE49-F238E27FC236}">
                <a16:creationId xmlns:a16="http://schemas.microsoft.com/office/drawing/2014/main" id="{230A9337-F31F-F4A2-8E5B-24424156BF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F55AC4-1AF2-DB13-562E-52D3A120BC17}"/>
              </a:ext>
            </a:extLst>
          </p:cNvPr>
          <p:cNvSpPr>
            <a:spLocks noGrp="1"/>
          </p:cNvSpPr>
          <p:nvPr>
            <p:ph type="sldNum" sz="quarter" idx="12"/>
          </p:nvPr>
        </p:nvSpPr>
        <p:spPr/>
        <p:txBody>
          <a:bodyPr/>
          <a:lstStyle/>
          <a:p>
            <a:fld id="{2EA262A3-4FAD-496B-9326-4948F2480CA6}" type="slidenum">
              <a:rPr lang="en-US" smtClean="0"/>
              <a:t>‹#›</a:t>
            </a:fld>
            <a:endParaRPr lang="en-US"/>
          </a:p>
        </p:txBody>
      </p:sp>
    </p:spTree>
    <p:extLst>
      <p:ext uri="{BB962C8B-B14F-4D97-AF65-F5344CB8AC3E}">
        <p14:creationId xmlns:p14="http://schemas.microsoft.com/office/powerpoint/2010/main" val="477746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8AE93-7E63-ABAC-DE18-AB48B7E1C1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1BFAAB-7817-DFE8-1D82-92CBC5A660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DCB620-6CD5-0851-0742-4B889D2E0F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B7D8BC-D337-CA2A-DC3A-FD06B1D096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109D7F-E649-9B21-0A4F-6302F6600E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8F56D8-E2E8-BDC9-8C32-C8F7E5DE26DC}"/>
              </a:ext>
            </a:extLst>
          </p:cNvPr>
          <p:cNvSpPr>
            <a:spLocks noGrp="1"/>
          </p:cNvSpPr>
          <p:nvPr>
            <p:ph type="dt" sz="half" idx="10"/>
          </p:nvPr>
        </p:nvSpPr>
        <p:spPr/>
        <p:txBody>
          <a:bodyPr/>
          <a:lstStyle/>
          <a:p>
            <a:fld id="{2796AA04-2357-4AE3-A2AB-CA73DAB68ADA}" type="datetimeFigureOut">
              <a:rPr lang="en-US" smtClean="0"/>
              <a:t>5/29/2026</a:t>
            </a:fld>
            <a:endParaRPr lang="en-US"/>
          </a:p>
        </p:txBody>
      </p:sp>
      <p:sp>
        <p:nvSpPr>
          <p:cNvPr id="8" name="Footer Placeholder 7">
            <a:extLst>
              <a:ext uri="{FF2B5EF4-FFF2-40B4-BE49-F238E27FC236}">
                <a16:creationId xmlns:a16="http://schemas.microsoft.com/office/drawing/2014/main" id="{A28F1519-EDC6-E913-844E-691495BCF90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C59414-22D4-CDB0-7F89-4FF3E0AA23D5}"/>
              </a:ext>
            </a:extLst>
          </p:cNvPr>
          <p:cNvSpPr>
            <a:spLocks noGrp="1"/>
          </p:cNvSpPr>
          <p:nvPr>
            <p:ph type="sldNum" sz="quarter" idx="12"/>
          </p:nvPr>
        </p:nvSpPr>
        <p:spPr/>
        <p:txBody>
          <a:bodyPr/>
          <a:lstStyle/>
          <a:p>
            <a:fld id="{2EA262A3-4FAD-496B-9326-4948F2480CA6}" type="slidenum">
              <a:rPr lang="en-US" smtClean="0"/>
              <a:t>‹#›</a:t>
            </a:fld>
            <a:endParaRPr lang="en-US"/>
          </a:p>
        </p:txBody>
      </p:sp>
    </p:spTree>
    <p:extLst>
      <p:ext uri="{BB962C8B-B14F-4D97-AF65-F5344CB8AC3E}">
        <p14:creationId xmlns:p14="http://schemas.microsoft.com/office/powerpoint/2010/main" val="1797395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235E6-C523-8C54-BB5F-ECB3D42010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57B0FA-5281-CD0D-93A2-B81C5FCDD272}"/>
              </a:ext>
            </a:extLst>
          </p:cNvPr>
          <p:cNvSpPr>
            <a:spLocks noGrp="1"/>
          </p:cNvSpPr>
          <p:nvPr>
            <p:ph type="dt" sz="half" idx="10"/>
          </p:nvPr>
        </p:nvSpPr>
        <p:spPr/>
        <p:txBody>
          <a:bodyPr/>
          <a:lstStyle/>
          <a:p>
            <a:fld id="{2796AA04-2357-4AE3-A2AB-CA73DAB68ADA}" type="datetimeFigureOut">
              <a:rPr lang="en-US" smtClean="0"/>
              <a:t>5/29/2026</a:t>
            </a:fld>
            <a:endParaRPr lang="en-US"/>
          </a:p>
        </p:txBody>
      </p:sp>
      <p:sp>
        <p:nvSpPr>
          <p:cNvPr id="4" name="Footer Placeholder 3">
            <a:extLst>
              <a:ext uri="{FF2B5EF4-FFF2-40B4-BE49-F238E27FC236}">
                <a16:creationId xmlns:a16="http://schemas.microsoft.com/office/drawing/2014/main" id="{8246DE98-EFA7-A193-9591-80FCB1DA7C3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24FB415-9559-C0A6-F7EA-BDE0FE2B78CC}"/>
              </a:ext>
            </a:extLst>
          </p:cNvPr>
          <p:cNvSpPr>
            <a:spLocks noGrp="1"/>
          </p:cNvSpPr>
          <p:nvPr>
            <p:ph type="sldNum" sz="quarter" idx="12"/>
          </p:nvPr>
        </p:nvSpPr>
        <p:spPr/>
        <p:txBody>
          <a:bodyPr/>
          <a:lstStyle/>
          <a:p>
            <a:fld id="{2EA262A3-4FAD-496B-9326-4948F2480CA6}" type="slidenum">
              <a:rPr lang="en-US" smtClean="0"/>
              <a:t>‹#›</a:t>
            </a:fld>
            <a:endParaRPr lang="en-US"/>
          </a:p>
        </p:txBody>
      </p:sp>
    </p:spTree>
    <p:extLst>
      <p:ext uri="{BB962C8B-B14F-4D97-AF65-F5344CB8AC3E}">
        <p14:creationId xmlns:p14="http://schemas.microsoft.com/office/powerpoint/2010/main" val="164014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3C745F-D756-3FDF-FD25-3D9EE340FA1E}"/>
              </a:ext>
            </a:extLst>
          </p:cNvPr>
          <p:cNvSpPr>
            <a:spLocks noGrp="1"/>
          </p:cNvSpPr>
          <p:nvPr>
            <p:ph type="dt" sz="half" idx="10"/>
          </p:nvPr>
        </p:nvSpPr>
        <p:spPr/>
        <p:txBody>
          <a:bodyPr/>
          <a:lstStyle/>
          <a:p>
            <a:fld id="{2796AA04-2357-4AE3-A2AB-CA73DAB68ADA}" type="datetimeFigureOut">
              <a:rPr lang="en-US" smtClean="0"/>
              <a:t>5/29/2026</a:t>
            </a:fld>
            <a:endParaRPr lang="en-US"/>
          </a:p>
        </p:txBody>
      </p:sp>
      <p:sp>
        <p:nvSpPr>
          <p:cNvPr id="3" name="Footer Placeholder 2">
            <a:extLst>
              <a:ext uri="{FF2B5EF4-FFF2-40B4-BE49-F238E27FC236}">
                <a16:creationId xmlns:a16="http://schemas.microsoft.com/office/drawing/2014/main" id="{04E563BE-F5DB-DEF4-F6CB-2FC52BD1D03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D6EBA0-6E33-C155-A064-4E02609CFA14}"/>
              </a:ext>
            </a:extLst>
          </p:cNvPr>
          <p:cNvSpPr>
            <a:spLocks noGrp="1"/>
          </p:cNvSpPr>
          <p:nvPr>
            <p:ph type="sldNum" sz="quarter" idx="12"/>
          </p:nvPr>
        </p:nvSpPr>
        <p:spPr/>
        <p:txBody>
          <a:bodyPr/>
          <a:lstStyle/>
          <a:p>
            <a:fld id="{2EA262A3-4FAD-496B-9326-4948F2480CA6}" type="slidenum">
              <a:rPr lang="en-US" smtClean="0"/>
              <a:t>‹#›</a:t>
            </a:fld>
            <a:endParaRPr lang="en-US"/>
          </a:p>
        </p:txBody>
      </p:sp>
    </p:spTree>
    <p:extLst>
      <p:ext uri="{BB962C8B-B14F-4D97-AF65-F5344CB8AC3E}">
        <p14:creationId xmlns:p14="http://schemas.microsoft.com/office/powerpoint/2010/main" val="180194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863A5-9CD5-3B4B-33E2-2C84DFCCD8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A7B5B5-D68D-4FA9-795E-E32ED62EAF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F1EB73-73C6-E91E-1069-068669587D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EBD2FF-30E8-3A7D-1E6E-FBFD23E0BD9E}"/>
              </a:ext>
            </a:extLst>
          </p:cNvPr>
          <p:cNvSpPr>
            <a:spLocks noGrp="1"/>
          </p:cNvSpPr>
          <p:nvPr>
            <p:ph type="dt" sz="half" idx="10"/>
          </p:nvPr>
        </p:nvSpPr>
        <p:spPr/>
        <p:txBody>
          <a:bodyPr/>
          <a:lstStyle/>
          <a:p>
            <a:fld id="{2796AA04-2357-4AE3-A2AB-CA73DAB68ADA}" type="datetimeFigureOut">
              <a:rPr lang="en-US" smtClean="0"/>
              <a:t>5/29/2026</a:t>
            </a:fld>
            <a:endParaRPr lang="en-US"/>
          </a:p>
        </p:txBody>
      </p:sp>
      <p:sp>
        <p:nvSpPr>
          <p:cNvPr id="6" name="Footer Placeholder 5">
            <a:extLst>
              <a:ext uri="{FF2B5EF4-FFF2-40B4-BE49-F238E27FC236}">
                <a16:creationId xmlns:a16="http://schemas.microsoft.com/office/drawing/2014/main" id="{F08A4AF9-123B-1D01-8650-6688FCE2F2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FC0294-E725-1DEE-E1E2-2E729ED37892}"/>
              </a:ext>
            </a:extLst>
          </p:cNvPr>
          <p:cNvSpPr>
            <a:spLocks noGrp="1"/>
          </p:cNvSpPr>
          <p:nvPr>
            <p:ph type="sldNum" sz="quarter" idx="12"/>
          </p:nvPr>
        </p:nvSpPr>
        <p:spPr/>
        <p:txBody>
          <a:bodyPr/>
          <a:lstStyle/>
          <a:p>
            <a:fld id="{2EA262A3-4FAD-496B-9326-4948F2480CA6}" type="slidenum">
              <a:rPr lang="en-US" smtClean="0"/>
              <a:t>‹#›</a:t>
            </a:fld>
            <a:endParaRPr lang="en-US"/>
          </a:p>
        </p:txBody>
      </p:sp>
    </p:spTree>
    <p:extLst>
      <p:ext uri="{BB962C8B-B14F-4D97-AF65-F5344CB8AC3E}">
        <p14:creationId xmlns:p14="http://schemas.microsoft.com/office/powerpoint/2010/main" val="2762827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F35C0-C932-1BCA-A724-32CA96AF39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99D4F1-0582-7230-6A39-A0B8C4CB20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C42F1C-AA0A-BC3C-4210-851450CF3B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14D1DC-6B5A-6EEB-B0F2-AE05A50CC1E1}"/>
              </a:ext>
            </a:extLst>
          </p:cNvPr>
          <p:cNvSpPr>
            <a:spLocks noGrp="1"/>
          </p:cNvSpPr>
          <p:nvPr>
            <p:ph type="dt" sz="half" idx="10"/>
          </p:nvPr>
        </p:nvSpPr>
        <p:spPr/>
        <p:txBody>
          <a:bodyPr/>
          <a:lstStyle/>
          <a:p>
            <a:fld id="{2796AA04-2357-4AE3-A2AB-CA73DAB68ADA}" type="datetimeFigureOut">
              <a:rPr lang="en-US" smtClean="0"/>
              <a:t>5/29/2026</a:t>
            </a:fld>
            <a:endParaRPr lang="en-US"/>
          </a:p>
        </p:txBody>
      </p:sp>
      <p:sp>
        <p:nvSpPr>
          <p:cNvPr id="6" name="Footer Placeholder 5">
            <a:extLst>
              <a:ext uri="{FF2B5EF4-FFF2-40B4-BE49-F238E27FC236}">
                <a16:creationId xmlns:a16="http://schemas.microsoft.com/office/drawing/2014/main" id="{74994F5D-678E-384F-38B0-42BF604038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CF9178-1856-E026-F6D6-98296BBDFDFD}"/>
              </a:ext>
            </a:extLst>
          </p:cNvPr>
          <p:cNvSpPr>
            <a:spLocks noGrp="1"/>
          </p:cNvSpPr>
          <p:nvPr>
            <p:ph type="sldNum" sz="quarter" idx="12"/>
          </p:nvPr>
        </p:nvSpPr>
        <p:spPr/>
        <p:txBody>
          <a:bodyPr/>
          <a:lstStyle/>
          <a:p>
            <a:fld id="{2EA262A3-4FAD-496B-9326-4948F2480CA6}" type="slidenum">
              <a:rPr lang="en-US" smtClean="0"/>
              <a:t>‹#›</a:t>
            </a:fld>
            <a:endParaRPr lang="en-US"/>
          </a:p>
        </p:txBody>
      </p:sp>
    </p:spTree>
    <p:extLst>
      <p:ext uri="{BB962C8B-B14F-4D97-AF65-F5344CB8AC3E}">
        <p14:creationId xmlns:p14="http://schemas.microsoft.com/office/powerpoint/2010/main" val="207391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6E0B3-411B-9FBA-2B1A-05390D3E963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C93D95-AAAD-4C10-EBA4-3C3B9F2351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5AF4B5-A35C-6AB4-9CC0-829B7B8FC41D}"/>
              </a:ext>
            </a:extLst>
          </p:cNvPr>
          <p:cNvSpPr>
            <a:spLocks noGrp="1"/>
          </p:cNvSpPr>
          <p:nvPr>
            <p:ph type="dt" sz="half" idx="10"/>
          </p:nvPr>
        </p:nvSpPr>
        <p:spPr/>
        <p:txBody>
          <a:bodyPr/>
          <a:lstStyle/>
          <a:p>
            <a:fld id="{2796AA04-2357-4AE3-A2AB-CA73DAB68ADA}" type="datetimeFigureOut">
              <a:rPr lang="en-US" smtClean="0"/>
              <a:t>5/29/2026</a:t>
            </a:fld>
            <a:endParaRPr lang="en-US"/>
          </a:p>
        </p:txBody>
      </p:sp>
      <p:sp>
        <p:nvSpPr>
          <p:cNvPr id="5" name="Footer Placeholder 4">
            <a:extLst>
              <a:ext uri="{FF2B5EF4-FFF2-40B4-BE49-F238E27FC236}">
                <a16:creationId xmlns:a16="http://schemas.microsoft.com/office/drawing/2014/main" id="{BB3A196D-D8AC-2288-B7FC-99144666A5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2EA400-295A-4313-E2CF-38E46436EA05}"/>
              </a:ext>
            </a:extLst>
          </p:cNvPr>
          <p:cNvSpPr>
            <a:spLocks noGrp="1"/>
          </p:cNvSpPr>
          <p:nvPr>
            <p:ph type="sldNum" sz="quarter" idx="12"/>
          </p:nvPr>
        </p:nvSpPr>
        <p:spPr/>
        <p:txBody>
          <a:bodyPr/>
          <a:lstStyle/>
          <a:p>
            <a:fld id="{2EA262A3-4FAD-496B-9326-4948F2480CA6}" type="slidenum">
              <a:rPr lang="en-US" smtClean="0"/>
              <a:t>‹#›</a:t>
            </a:fld>
            <a:endParaRPr lang="en-US"/>
          </a:p>
        </p:txBody>
      </p:sp>
    </p:spTree>
    <p:extLst>
      <p:ext uri="{BB962C8B-B14F-4D97-AF65-F5344CB8AC3E}">
        <p14:creationId xmlns:p14="http://schemas.microsoft.com/office/powerpoint/2010/main" val="2803106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69535-41D5-1732-CF87-92A5838293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866897-4335-BF2B-8429-AEE0923250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3303F3-9B99-4CC9-F995-88BEF392EA7D}"/>
              </a:ext>
            </a:extLst>
          </p:cNvPr>
          <p:cNvSpPr>
            <a:spLocks noGrp="1"/>
          </p:cNvSpPr>
          <p:nvPr>
            <p:ph type="dt" sz="half" idx="10"/>
          </p:nvPr>
        </p:nvSpPr>
        <p:spPr/>
        <p:txBody>
          <a:bodyPr/>
          <a:lstStyle/>
          <a:p>
            <a:fld id="{2796AA04-2357-4AE3-A2AB-CA73DAB68ADA}" type="datetimeFigureOut">
              <a:rPr lang="en-US" smtClean="0"/>
              <a:t>5/29/2026</a:t>
            </a:fld>
            <a:endParaRPr lang="en-US"/>
          </a:p>
        </p:txBody>
      </p:sp>
      <p:sp>
        <p:nvSpPr>
          <p:cNvPr id="5" name="Footer Placeholder 4">
            <a:extLst>
              <a:ext uri="{FF2B5EF4-FFF2-40B4-BE49-F238E27FC236}">
                <a16:creationId xmlns:a16="http://schemas.microsoft.com/office/drawing/2014/main" id="{D7D91CC8-46E1-2394-420A-B8B43F9919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745398-F382-A5CA-33BD-F01713028274}"/>
              </a:ext>
            </a:extLst>
          </p:cNvPr>
          <p:cNvSpPr>
            <a:spLocks noGrp="1"/>
          </p:cNvSpPr>
          <p:nvPr>
            <p:ph type="sldNum" sz="quarter" idx="12"/>
          </p:nvPr>
        </p:nvSpPr>
        <p:spPr/>
        <p:txBody>
          <a:bodyPr/>
          <a:lstStyle/>
          <a:p>
            <a:fld id="{2EA262A3-4FAD-496B-9326-4948F2480CA6}" type="slidenum">
              <a:rPr lang="en-US" smtClean="0"/>
              <a:t>‹#›</a:t>
            </a:fld>
            <a:endParaRPr lang="en-US"/>
          </a:p>
        </p:txBody>
      </p:sp>
    </p:spTree>
    <p:extLst>
      <p:ext uri="{BB962C8B-B14F-4D97-AF65-F5344CB8AC3E}">
        <p14:creationId xmlns:p14="http://schemas.microsoft.com/office/powerpoint/2010/main" val="101116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89076B-D0A1-936D-E5BA-E1DA1DE8C3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4785C3-E9F3-BF54-8970-8D9F5672EC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66BFDF-EACE-7943-3D76-79EF5953F9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96AA04-2357-4AE3-A2AB-CA73DAB68ADA}" type="datetimeFigureOut">
              <a:rPr lang="en-US" smtClean="0"/>
              <a:t>5/29/2026</a:t>
            </a:fld>
            <a:endParaRPr lang="en-US"/>
          </a:p>
        </p:txBody>
      </p:sp>
      <p:sp>
        <p:nvSpPr>
          <p:cNvPr id="5" name="Footer Placeholder 4">
            <a:extLst>
              <a:ext uri="{FF2B5EF4-FFF2-40B4-BE49-F238E27FC236}">
                <a16:creationId xmlns:a16="http://schemas.microsoft.com/office/drawing/2014/main" id="{63A0D369-98F7-89DF-8E24-EDFABF304E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B072C24-7AEF-1D48-A031-EA90733F2B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A262A3-4FAD-496B-9326-4948F2480CA6}" type="slidenum">
              <a:rPr lang="en-US" smtClean="0"/>
              <a:t>‹#›</a:t>
            </a:fld>
            <a:endParaRPr lang="en-US"/>
          </a:p>
        </p:txBody>
      </p:sp>
    </p:spTree>
    <p:extLst>
      <p:ext uri="{BB962C8B-B14F-4D97-AF65-F5344CB8AC3E}">
        <p14:creationId xmlns:p14="http://schemas.microsoft.com/office/powerpoint/2010/main" val="2407863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CC322-616A-8401-CD32-F1DC3C80D86A}"/>
              </a:ext>
            </a:extLst>
          </p:cNvPr>
          <p:cNvSpPr>
            <a:spLocks noGrp="1"/>
          </p:cNvSpPr>
          <p:nvPr>
            <p:ph type="ctrTitle"/>
          </p:nvPr>
        </p:nvSpPr>
        <p:spPr/>
        <p:txBody>
          <a:bodyPr/>
          <a:lstStyle/>
          <a:p>
            <a:r>
              <a:rPr lang="en-US" dirty="0" err="1"/>
              <a:t>EmporiUm</a:t>
            </a:r>
            <a:r>
              <a:rPr lang="en-US" dirty="0"/>
              <a:t> Sales Analysis</a:t>
            </a:r>
          </a:p>
        </p:txBody>
      </p:sp>
      <p:sp>
        <p:nvSpPr>
          <p:cNvPr id="3" name="Subtitle 2">
            <a:extLst>
              <a:ext uri="{FF2B5EF4-FFF2-40B4-BE49-F238E27FC236}">
                <a16:creationId xmlns:a16="http://schemas.microsoft.com/office/drawing/2014/main" id="{7CB31976-0DB8-3E5E-FC29-4813766B2956}"/>
              </a:ext>
            </a:extLst>
          </p:cNvPr>
          <p:cNvSpPr>
            <a:spLocks noGrp="1"/>
          </p:cNvSpPr>
          <p:nvPr>
            <p:ph type="subTitle" idx="1"/>
          </p:nvPr>
        </p:nvSpPr>
        <p:spPr/>
        <p:txBody>
          <a:bodyPr/>
          <a:lstStyle/>
          <a:p>
            <a:r>
              <a:rPr lang="en-US" dirty="0"/>
              <a:t>By Lily Wells</a:t>
            </a:r>
          </a:p>
        </p:txBody>
      </p:sp>
    </p:spTree>
    <p:extLst>
      <p:ext uri="{BB962C8B-B14F-4D97-AF65-F5344CB8AC3E}">
        <p14:creationId xmlns:p14="http://schemas.microsoft.com/office/powerpoint/2010/main" val="529534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D0EEC-A5FB-6F0B-E5EB-FCA6A5D69090}"/>
              </a:ext>
            </a:extLst>
          </p:cNvPr>
          <p:cNvSpPr>
            <a:spLocks noGrp="1"/>
          </p:cNvSpPr>
          <p:nvPr>
            <p:ph type="title"/>
          </p:nvPr>
        </p:nvSpPr>
        <p:spPr/>
        <p:txBody>
          <a:bodyPr/>
          <a:lstStyle/>
          <a:p>
            <a:r>
              <a:rPr lang="en-US" dirty="0"/>
              <a:t>What questions were analyzed? </a:t>
            </a:r>
          </a:p>
        </p:txBody>
      </p:sp>
      <p:sp>
        <p:nvSpPr>
          <p:cNvPr id="3" name="Content Placeholder 2">
            <a:extLst>
              <a:ext uri="{FF2B5EF4-FFF2-40B4-BE49-F238E27FC236}">
                <a16:creationId xmlns:a16="http://schemas.microsoft.com/office/drawing/2014/main" id="{8D1FB488-545A-FB3F-6486-58F8FD4C9DBA}"/>
              </a:ext>
            </a:extLst>
          </p:cNvPr>
          <p:cNvSpPr>
            <a:spLocks noGrp="1"/>
          </p:cNvSpPr>
          <p:nvPr>
            <p:ph idx="1"/>
          </p:nvPr>
        </p:nvSpPr>
        <p:spPr/>
        <p:txBody>
          <a:bodyPr>
            <a:normAutofit fontScale="85000" lnSpcReduction="10000"/>
          </a:bodyPr>
          <a:lstStyle/>
          <a:p>
            <a:pPr marL="0" indent="0">
              <a:buNone/>
            </a:pPr>
            <a:r>
              <a:rPr lang="en-US" dirty="0"/>
              <a:t>* Who are the territory managers for the sales territories assigned? What are the store IDs and cities for the stores in each assigned sales territory?</a:t>
            </a:r>
            <a:br>
              <a:rPr lang="en-US" dirty="0"/>
            </a:br>
            <a:r>
              <a:rPr lang="en-US" dirty="0"/>
              <a:t>∗ What is monthly total revenue for in-store sales in each of the two sales territories, over the full period covered by the data?</a:t>
            </a:r>
            <a:br>
              <a:rPr lang="en-US" dirty="0"/>
            </a:br>
            <a:r>
              <a:rPr lang="en-US" dirty="0"/>
              <a:t>∗ How would you rank the sales performance of each store in each sales territory? Which are the top-performing stores?</a:t>
            </a:r>
            <a:br>
              <a:rPr lang="en-US" dirty="0"/>
            </a:br>
            <a:r>
              <a:rPr lang="en-US" dirty="0"/>
              <a:t>∗ Comparing the customer ID from the customer list data with the rewards ID from the sales data, who were the top customers in each sales territory?</a:t>
            </a:r>
            <a:br>
              <a:rPr lang="en-US" dirty="0"/>
            </a:br>
            <a:r>
              <a:rPr lang="en-US" dirty="0"/>
              <a:t>∗ What is the number of transactions per month by product category in each assigned territory? What is total sales revenue per month by category? What might this tell you about the most popular products, and where could there be opportunity for growth?</a:t>
            </a:r>
            <a:br>
              <a:rPr lang="en-US" dirty="0"/>
            </a:br>
            <a:r>
              <a:rPr lang="en-US" dirty="0"/>
              <a:t>∗ What is your recommendation for where to focus marketing attention in the next quarter?</a:t>
            </a:r>
          </a:p>
          <a:p>
            <a:endParaRPr lang="en-US" dirty="0"/>
          </a:p>
        </p:txBody>
      </p:sp>
    </p:spTree>
    <p:extLst>
      <p:ext uri="{BB962C8B-B14F-4D97-AF65-F5344CB8AC3E}">
        <p14:creationId xmlns:p14="http://schemas.microsoft.com/office/powerpoint/2010/main" val="2876617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7A0D6-A665-BF26-C863-B0CDDA2D2911}"/>
              </a:ext>
            </a:extLst>
          </p:cNvPr>
          <p:cNvSpPr>
            <a:spLocks noGrp="1"/>
          </p:cNvSpPr>
          <p:nvPr>
            <p:ph type="title"/>
          </p:nvPr>
        </p:nvSpPr>
        <p:spPr/>
        <p:txBody>
          <a:bodyPr>
            <a:normAutofit fontScale="90000"/>
          </a:bodyPr>
          <a:lstStyle/>
          <a:p>
            <a:r>
              <a:rPr lang="en-US" sz="2700" dirty="0"/>
              <a:t>Who are the territory managers for the sales territories assigned? What are the store IDs and cities for the stores in each assigned sales territory?</a:t>
            </a:r>
            <a:br>
              <a:rPr lang="en-US" dirty="0"/>
            </a:br>
            <a:endParaRPr lang="en-US" dirty="0"/>
          </a:p>
        </p:txBody>
      </p:sp>
      <p:sp>
        <p:nvSpPr>
          <p:cNvPr id="3" name="Content Placeholder 2">
            <a:extLst>
              <a:ext uri="{FF2B5EF4-FFF2-40B4-BE49-F238E27FC236}">
                <a16:creationId xmlns:a16="http://schemas.microsoft.com/office/drawing/2014/main" id="{135FCCFD-72ED-8A1E-E9B1-0E7C3BA18D55}"/>
              </a:ext>
            </a:extLst>
          </p:cNvPr>
          <p:cNvSpPr>
            <a:spLocks noGrp="1"/>
          </p:cNvSpPr>
          <p:nvPr>
            <p:ph idx="1"/>
          </p:nvPr>
        </p:nvSpPr>
        <p:spPr/>
        <p:txBody>
          <a:bodyPr/>
          <a:lstStyle/>
          <a:p>
            <a:pPr marL="0" indent="0">
              <a:buNone/>
            </a:pPr>
            <a:r>
              <a:rPr lang="en-US" dirty="0"/>
              <a:t>My territory managers are Jim Heck  for the West Colorado region, and Shruti Reddy for the Northeast Maryland region. </a:t>
            </a:r>
          </a:p>
          <a:p>
            <a:endParaRPr lang="en-US" dirty="0"/>
          </a:p>
        </p:txBody>
      </p:sp>
      <p:pic>
        <p:nvPicPr>
          <p:cNvPr id="5" name="Picture 4">
            <a:extLst>
              <a:ext uri="{FF2B5EF4-FFF2-40B4-BE49-F238E27FC236}">
                <a16:creationId xmlns:a16="http://schemas.microsoft.com/office/drawing/2014/main" id="{10F3A4BC-AE07-19A1-9AA7-8083A288DC00}"/>
              </a:ext>
            </a:extLst>
          </p:cNvPr>
          <p:cNvPicPr>
            <a:picLocks noChangeAspect="1"/>
          </p:cNvPicPr>
          <p:nvPr/>
        </p:nvPicPr>
        <p:blipFill>
          <a:blip r:embed="rId2"/>
          <a:stretch>
            <a:fillRect/>
          </a:stretch>
        </p:blipFill>
        <p:spPr>
          <a:xfrm>
            <a:off x="1080128" y="2954866"/>
            <a:ext cx="4270805" cy="2709107"/>
          </a:xfrm>
          <a:prstGeom prst="rect">
            <a:avLst/>
          </a:prstGeom>
        </p:spPr>
      </p:pic>
      <p:pic>
        <p:nvPicPr>
          <p:cNvPr id="7" name="Picture 6">
            <a:extLst>
              <a:ext uri="{FF2B5EF4-FFF2-40B4-BE49-F238E27FC236}">
                <a16:creationId xmlns:a16="http://schemas.microsoft.com/office/drawing/2014/main" id="{2DBDD504-ED90-8811-9F68-2A025E6BC5D6}"/>
              </a:ext>
            </a:extLst>
          </p:cNvPr>
          <p:cNvPicPr>
            <a:picLocks noChangeAspect="1"/>
          </p:cNvPicPr>
          <p:nvPr/>
        </p:nvPicPr>
        <p:blipFill>
          <a:blip r:embed="rId3"/>
          <a:stretch>
            <a:fillRect/>
          </a:stretch>
        </p:blipFill>
        <p:spPr>
          <a:xfrm>
            <a:off x="6096000" y="3429000"/>
            <a:ext cx="5257800" cy="2234973"/>
          </a:xfrm>
          <a:prstGeom prst="rect">
            <a:avLst/>
          </a:prstGeom>
        </p:spPr>
      </p:pic>
    </p:spTree>
    <p:extLst>
      <p:ext uri="{BB962C8B-B14F-4D97-AF65-F5344CB8AC3E}">
        <p14:creationId xmlns:p14="http://schemas.microsoft.com/office/powerpoint/2010/main" val="2792372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1B76-329A-C8D1-DE33-66F6001B3317}"/>
              </a:ext>
            </a:extLst>
          </p:cNvPr>
          <p:cNvSpPr>
            <a:spLocks noGrp="1"/>
          </p:cNvSpPr>
          <p:nvPr>
            <p:ph type="title"/>
          </p:nvPr>
        </p:nvSpPr>
        <p:spPr/>
        <p:txBody>
          <a:bodyPr>
            <a:normAutofit/>
          </a:bodyPr>
          <a:lstStyle/>
          <a:p>
            <a:r>
              <a:rPr lang="en-US" sz="2400" dirty="0"/>
              <a:t>What is monthly total revenue for in-store sales in each of the two sales territories, over the full period covered by the data?</a:t>
            </a:r>
          </a:p>
        </p:txBody>
      </p:sp>
      <p:pic>
        <p:nvPicPr>
          <p:cNvPr id="5" name="Content Placeholder 4">
            <a:extLst>
              <a:ext uri="{FF2B5EF4-FFF2-40B4-BE49-F238E27FC236}">
                <a16:creationId xmlns:a16="http://schemas.microsoft.com/office/drawing/2014/main" id="{7D094BF9-DCBF-6C15-17D5-5B99391540B9}"/>
              </a:ext>
            </a:extLst>
          </p:cNvPr>
          <p:cNvPicPr>
            <a:picLocks noGrp="1" noChangeAspect="1"/>
          </p:cNvPicPr>
          <p:nvPr>
            <p:ph idx="1"/>
          </p:nvPr>
        </p:nvPicPr>
        <p:blipFill>
          <a:blip r:embed="rId2"/>
          <a:stretch>
            <a:fillRect/>
          </a:stretch>
        </p:blipFill>
        <p:spPr>
          <a:xfrm>
            <a:off x="2069762" y="1825625"/>
            <a:ext cx="8052475" cy="4351338"/>
          </a:xfrm>
          <a:prstGeom prst="rect">
            <a:avLst/>
          </a:prstGeom>
        </p:spPr>
      </p:pic>
    </p:spTree>
    <p:extLst>
      <p:ext uri="{BB962C8B-B14F-4D97-AF65-F5344CB8AC3E}">
        <p14:creationId xmlns:p14="http://schemas.microsoft.com/office/powerpoint/2010/main" val="3985449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3057E-39C7-D0B5-00BE-52B51CD3A544}"/>
              </a:ext>
            </a:extLst>
          </p:cNvPr>
          <p:cNvSpPr>
            <a:spLocks noGrp="1"/>
          </p:cNvSpPr>
          <p:nvPr>
            <p:ph type="title"/>
          </p:nvPr>
        </p:nvSpPr>
        <p:spPr/>
        <p:txBody>
          <a:bodyPr>
            <a:normAutofit/>
          </a:bodyPr>
          <a:lstStyle/>
          <a:p>
            <a:r>
              <a:rPr lang="en-US" sz="2400" dirty="0"/>
              <a:t>How would you rank the sales performance of each store in each sales territory? Which are the top-performing stores?</a:t>
            </a:r>
          </a:p>
        </p:txBody>
      </p:sp>
      <p:sp>
        <p:nvSpPr>
          <p:cNvPr id="3" name="Content Placeholder 2">
            <a:extLst>
              <a:ext uri="{FF2B5EF4-FFF2-40B4-BE49-F238E27FC236}">
                <a16:creationId xmlns:a16="http://schemas.microsoft.com/office/drawing/2014/main" id="{476C8B05-306A-080A-F347-5498BC357320}"/>
              </a:ext>
            </a:extLst>
          </p:cNvPr>
          <p:cNvSpPr>
            <a:spLocks noGrp="1"/>
          </p:cNvSpPr>
          <p:nvPr>
            <p:ph idx="1"/>
          </p:nvPr>
        </p:nvSpPr>
        <p:spPr>
          <a:xfrm>
            <a:off x="716280" y="3114829"/>
            <a:ext cx="10515600" cy="3070543"/>
          </a:xfrm>
        </p:spPr>
        <p:txBody>
          <a:bodyPr>
            <a:normAutofit/>
          </a:bodyPr>
          <a:lstStyle/>
          <a:p>
            <a:pPr marL="0" indent="0">
              <a:buNone/>
            </a:pPr>
            <a:r>
              <a:rPr lang="en-US" sz="2400" dirty="0"/>
              <a:t>The highest performing store in Northeast Maryland is Store 737.</a:t>
            </a:r>
          </a:p>
          <a:p>
            <a:pPr marL="0" indent="0">
              <a:buNone/>
            </a:pPr>
            <a:r>
              <a:rPr lang="en-US" sz="2400" dirty="0"/>
              <a:t>The highest performing store in West Colorado is Store 711.</a:t>
            </a:r>
          </a:p>
          <a:p>
            <a:pPr marL="0" indent="0">
              <a:buNone/>
            </a:pPr>
            <a:endParaRPr lang="en-US" sz="2400" dirty="0"/>
          </a:p>
          <a:p>
            <a:pPr marL="0" indent="0">
              <a:buNone/>
            </a:pPr>
            <a:endParaRPr lang="en-US" sz="2400" dirty="0"/>
          </a:p>
        </p:txBody>
      </p:sp>
      <p:pic>
        <p:nvPicPr>
          <p:cNvPr id="5" name="Picture 4">
            <a:extLst>
              <a:ext uri="{FF2B5EF4-FFF2-40B4-BE49-F238E27FC236}">
                <a16:creationId xmlns:a16="http://schemas.microsoft.com/office/drawing/2014/main" id="{E23D2AAE-BA12-772E-4FEF-8F7B2FBA4174}"/>
              </a:ext>
            </a:extLst>
          </p:cNvPr>
          <p:cNvPicPr>
            <a:picLocks noChangeAspect="1"/>
          </p:cNvPicPr>
          <p:nvPr/>
        </p:nvPicPr>
        <p:blipFill>
          <a:blip r:embed="rId2"/>
          <a:stretch>
            <a:fillRect/>
          </a:stretch>
        </p:blipFill>
        <p:spPr>
          <a:xfrm>
            <a:off x="716280" y="4240469"/>
            <a:ext cx="4686954" cy="438211"/>
          </a:xfrm>
          <a:prstGeom prst="rect">
            <a:avLst/>
          </a:prstGeom>
        </p:spPr>
      </p:pic>
      <p:pic>
        <p:nvPicPr>
          <p:cNvPr id="7" name="Picture 6">
            <a:extLst>
              <a:ext uri="{FF2B5EF4-FFF2-40B4-BE49-F238E27FC236}">
                <a16:creationId xmlns:a16="http://schemas.microsoft.com/office/drawing/2014/main" id="{E534F2D8-A599-7ACF-7397-F6EB9CE9D6D5}"/>
              </a:ext>
            </a:extLst>
          </p:cNvPr>
          <p:cNvPicPr>
            <a:picLocks noChangeAspect="1"/>
          </p:cNvPicPr>
          <p:nvPr/>
        </p:nvPicPr>
        <p:blipFill>
          <a:blip r:embed="rId3"/>
          <a:stretch>
            <a:fillRect/>
          </a:stretch>
        </p:blipFill>
        <p:spPr>
          <a:xfrm>
            <a:off x="5724196" y="4459574"/>
            <a:ext cx="4706007" cy="190527"/>
          </a:xfrm>
          <a:prstGeom prst="rect">
            <a:avLst/>
          </a:prstGeom>
        </p:spPr>
      </p:pic>
    </p:spTree>
    <p:extLst>
      <p:ext uri="{BB962C8B-B14F-4D97-AF65-F5344CB8AC3E}">
        <p14:creationId xmlns:p14="http://schemas.microsoft.com/office/powerpoint/2010/main" val="2461603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9248E-90A2-31A2-9630-561CAA5FBAFF}"/>
              </a:ext>
            </a:extLst>
          </p:cNvPr>
          <p:cNvSpPr>
            <a:spLocks noGrp="1"/>
          </p:cNvSpPr>
          <p:nvPr>
            <p:ph type="title"/>
          </p:nvPr>
        </p:nvSpPr>
        <p:spPr/>
        <p:txBody>
          <a:bodyPr>
            <a:normAutofit/>
          </a:bodyPr>
          <a:lstStyle/>
          <a:p>
            <a:r>
              <a:rPr lang="en-US" sz="2400" dirty="0"/>
              <a:t>Comparing the customer ID from the customer list data with the rewards ID from the sales data, who were the top customers in each sales territory?</a:t>
            </a:r>
            <a:br>
              <a:rPr lang="en-US" sz="2400" dirty="0"/>
            </a:br>
            <a:endParaRPr lang="en-US" sz="2400" dirty="0"/>
          </a:p>
        </p:txBody>
      </p:sp>
      <p:sp>
        <p:nvSpPr>
          <p:cNvPr id="3" name="Content Placeholder 2">
            <a:extLst>
              <a:ext uri="{FF2B5EF4-FFF2-40B4-BE49-F238E27FC236}">
                <a16:creationId xmlns:a16="http://schemas.microsoft.com/office/drawing/2014/main" id="{9CCA0B22-CECA-6525-C026-FC9664D3AE70}"/>
              </a:ext>
            </a:extLst>
          </p:cNvPr>
          <p:cNvSpPr>
            <a:spLocks noGrp="1"/>
          </p:cNvSpPr>
          <p:nvPr>
            <p:ph idx="1"/>
          </p:nvPr>
        </p:nvSpPr>
        <p:spPr>
          <a:xfrm>
            <a:off x="838200" y="1459865"/>
            <a:ext cx="10515600" cy="4351338"/>
          </a:xfrm>
        </p:spPr>
        <p:txBody>
          <a:bodyPr>
            <a:normAutofit/>
          </a:bodyPr>
          <a:lstStyle/>
          <a:p>
            <a:pPr marL="0" indent="0">
              <a:buNone/>
            </a:pPr>
            <a:r>
              <a:rPr lang="en-US" sz="2400" dirty="0"/>
              <a:t>The top customers in the West Colorado region shopped at Store 702 with a reward id of 521 and a sale amount of 8.</a:t>
            </a:r>
          </a:p>
          <a:p>
            <a:pPr marL="0" indent="0">
              <a:buNone/>
            </a:pPr>
            <a:r>
              <a:rPr lang="en-US" sz="2400" dirty="0"/>
              <a:t>The top customers in the Northeast Maryland region shopped at Store 731 with a reward id of 521 and a sale amount of 23.44.</a:t>
            </a:r>
          </a:p>
          <a:p>
            <a:pPr marL="0" indent="0">
              <a:buNone/>
            </a:pPr>
            <a:endParaRPr lang="en-US" sz="2400" dirty="0"/>
          </a:p>
        </p:txBody>
      </p:sp>
      <p:pic>
        <p:nvPicPr>
          <p:cNvPr id="9" name="Picture 8">
            <a:extLst>
              <a:ext uri="{FF2B5EF4-FFF2-40B4-BE49-F238E27FC236}">
                <a16:creationId xmlns:a16="http://schemas.microsoft.com/office/drawing/2014/main" id="{EF8BEC9A-0E18-A965-46A4-92000C4CFE32}"/>
              </a:ext>
            </a:extLst>
          </p:cNvPr>
          <p:cNvPicPr>
            <a:picLocks noChangeAspect="1"/>
          </p:cNvPicPr>
          <p:nvPr/>
        </p:nvPicPr>
        <p:blipFill>
          <a:blip r:embed="rId2"/>
          <a:stretch>
            <a:fillRect/>
          </a:stretch>
        </p:blipFill>
        <p:spPr>
          <a:xfrm>
            <a:off x="8686801" y="2634271"/>
            <a:ext cx="2438400" cy="4191503"/>
          </a:xfrm>
          <a:prstGeom prst="rect">
            <a:avLst/>
          </a:prstGeom>
        </p:spPr>
      </p:pic>
      <p:pic>
        <p:nvPicPr>
          <p:cNvPr id="13" name="Picture 12">
            <a:extLst>
              <a:ext uri="{FF2B5EF4-FFF2-40B4-BE49-F238E27FC236}">
                <a16:creationId xmlns:a16="http://schemas.microsoft.com/office/drawing/2014/main" id="{964F342B-EFA0-AE83-16BA-689945A58D92}"/>
              </a:ext>
            </a:extLst>
          </p:cNvPr>
          <p:cNvPicPr>
            <a:picLocks noChangeAspect="1"/>
          </p:cNvPicPr>
          <p:nvPr/>
        </p:nvPicPr>
        <p:blipFill>
          <a:blip r:embed="rId3"/>
          <a:stretch>
            <a:fillRect/>
          </a:stretch>
        </p:blipFill>
        <p:spPr>
          <a:xfrm>
            <a:off x="1066799" y="3182083"/>
            <a:ext cx="4696480" cy="438211"/>
          </a:xfrm>
          <a:prstGeom prst="rect">
            <a:avLst/>
          </a:prstGeom>
        </p:spPr>
      </p:pic>
      <p:pic>
        <p:nvPicPr>
          <p:cNvPr id="15" name="Picture 14">
            <a:extLst>
              <a:ext uri="{FF2B5EF4-FFF2-40B4-BE49-F238E27FC236}">
                <a16:creationId xmlns:a16="http://schemas.microsoft.com/office/drawing/2014/main" id="{9806ECDF-6CAB-584F-9A37-F7CC840BCFCA}"/>
              </a:ext>
            </a:extLst>
          </p:cNvPr>
          <p:cNvPicPr>
            <a:picLocks noChangeAspect="1"/>
          </p:cNvPicPr>
          <p:nvPr/>
        </p:nvPicPr>
        <p:blipFill>
          <a:blip r:embed="rId4"/>
          <a:stretch>
            <a:fillRect/>
          </a:stretch>
        </p:blipFill>
        <p:spPr>
          <a:xfrm>
            <a:off x="1066799" y="3827500"/>
            <a:ext cx="4696480" cy="200053"/>
          </a:xfrm>
          <a:prstGeom prst="rect">
            <a:avLst/>
          </a:prstGeom>
        </p:spPr>
      </p:pic>
    </p:spTree>
    <p:extLst>
      <p:ext uri="{BB962C8B-B14F-4D97-AF65-F5344CB8AC3E}">
        <p14:creationId xmlns:p14="http://schemas.microsoft.com/office/powerpoint/2010/main" val="4223067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8C832-AACF-ADDD-F9F8-45F1228665DD}"/>
              </a:ext>
            </a:extLst>
          </p:cNvPr>
          <p:cNvSpPr>
            <a:spLocks noGrp="1"/>
          </p:cNvSpPr>
          <p:nvPr>
            <p:ph type="title"/>
          </p:nvPr>
        </p:nvSpPr>
        <p:spPr/>
        <p:txBody>
          <a:bodyPr>
            <a:normAutofit fontScale="90000"/>
          </a:bodyPr>
          <a:lstStyle/>
          <a:p>
            <a:r>
              <a:rPr lang="en-US" sz="2400" dirty="0"/>
              <a:t>What is the number of transactions per month by product category in each assigned territory? What is total sales revenue per month by category? What might this tell you about the most popular products, and where could there be opportunity for growth?</a:t>
            </a:r>
          </a:p>
        </p:txBody>
      </p:sp>
      <p:pic>
        <p:nvPicPr>
          <p:cNvPr id="5" name="Picture 4">
            <a:extLst>
              <a:ext uri="{FF2B5EF4-FFF2-40B4-BE49-F238E27FC236}">
                <a16:creationId xmlns:a16="http://schemas.microsoft.com/office/drawing/2014/main" id="{D3FB06CD-6DE8-2589-A0C4-D934C48CF34B}"/>
              </a:ext>
            </a:extLst>
          </p:cNvPr>
          <p:cNvPicPr>
            <a:picLocks noChangeAspect="1"/>
          </p:cNvPicPr>
          <p:nvPr/>
        </p:nvPicPr>
        <p:blipFill>
          <a:blip r:embed="rId2"/>
          <a:stretch>
            <a:fillRect/>
          </a:stretch>
        </p:blipFill>
        <p:spPr>
          <a:xfrm>
            <a:off x="172720" y="2225041"/>
            <a:ext cx="5659120" cy="3072094"/>
          </a:xfrm>
          <a:prstGeom prst="rect">
            <a:avLst/>
          </a:prstGeom>
        </p:spPr>
      </p:pic>
      <p:pic>
        <p:nvPicPr>
          <p:cNvPr id="7" name="Picture 6">
            <a:extLst>
              <a:ext uri="{FF2B5EF4-FFF2-40B4-BE49-F238E27FC236}">
                <a16:creationId xmlns:a16="http://schemas.microsoft.com/office/drawing/2014/main" id="{9B433FEB-0FE8-B56E-2997-814186906C78}"/>
              </a:ext>
            </a:extLst>
          </p:cNvPr>
          <p:cNvPicPr>
            <a:picLocks noChangeAspect="1"/>
          </p:cNvPicPr>
          <p:nvPr/>
        </p:nvPicPr>
        <p:blipFill>
          <a:blip r:embed="rId3"/>
          <a:stretch>
            <a:fillRect/>
          </a:stretch>
        </p:blipFill>
        <p:spPr>
          <a:xfrm>
            <a:off x="6087053" y="2225041"/>
            <a:ext cx="5586786" cy="3072094"/>
          </a:xfrm>
          <a:prstGeom prst="rect">
            <a:avLst/>
          </a:prstGeom>
        </p:spPr>
      </p:pic>
      <p:sp>
        <p:nvSpPr>
          <p:cNvPr id="9" name="TextBox 8">
            <a:extLst>
              <a:ext uri="{FF2B5EF4-FFF2-40B4-BE49-F238E27FC236}">
                <a16:creationId xmlns:a16="http://schemas.microsoft.com/office/drawing/2014/main" id="{52B1F916-1DBA-0A99-5AE2-F307B034B193}"/>
              </a:ext>
            </a:extLst>
          </p:cNvPr>
          <p:cNvSpPr txBox="1"/>
          <p:nvPr/>
        </p:nvSpPr>
        <p:spPr>
          <a:xfrm>
            <a:off x="2582333" y="5297135"/>
            <a:ext cx="7874000" cy="1200329"/>
          </a:xfrm>
          <a:prstGeom prst="rect">
            <a:avLst/>
          </a:prstGeom>
          <a:noFill/>
        </p:spPr>
        <p:txBody>
          <a:bodyPr wrap="square">
            <a:spAutoFit/>
          </a:bodyPr>
          <a:lstStyle/>
          <a:p>
            <a:r>
              <a:rPr lang="en-US" dirty="0"/>
              <a:t>There is room for growth in the general books category - perhaps due to disinterest in the genres provided?? I would recommend doing a survey to see why the general books category is performing so poorly compared to the other categories.</a:t>
            </a:r>
          </a:p>
        </p:txBody>
      </p:sp>
    </p:spTree>
    <p:extLst>
      <p:ext uri="{BB962C8B-B14F-4D97-AF65-F5344CB8AC3E}">
        <p14:creationId xmlns:p14="http://schemas.microsoft.com/office/powerpoint/2010/main" val="3870674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42D01-ECCB-30D3-4FBD-0ACE434C9A9A}"/>
              </a:ext>
            </a:extLst>
          </p:cNvPr>
          <p:cNvSpPr>
            <a:spLocks noGrp="1"/>
          </p:cNvSpPr>
          <p:nvPr>
            <p:ph type="title"/>
          </p:nvPr>
        </p:nvSpPr>
        <p:spPr/>
        <p:txBody>
          <a:bodyPr>
            <a:normAutofit/>
          </a:bodyPr>
          <a:lstStyle/>
          <a:p>
            <a:r>
              <a:rPr lang="en-US" sz="2400" dirty="0"/>
              <a:t>What is your recommendation for where to focus marketing attention in the next quarter?</a:t>
            </a:r>
          </a:p>
        </p:txBody>
      </p:sp>
      <p:sp>
        <p:nvSpPr>
          <p:cNvPr id="3" name="Content Placeholder 2">
            <a:extLst>
              <a:ext uri="{FF2B5EF4-FFF2-40B4-BE49-F238E27FC236}">
                <a16:creationId xmlns:a16="http://schemas.microsoft.com/office/drawing/2014/main" id="{A7DEA8C9-CB5C-F946-DF2C-4231A2650906}"/>
              </a:ext>
            </a:extLst>
          </p:cNvPr>
          <p:cNvSpPr>
            <a:spLocks noGrp="1"/>
          </p:cNvSpPr>
          <p:nvPr>
            <p:ph idx="1"/>
          </p:nvPr>
        </p:nvSpPr>
        <p:spPr/>
        <p:txBody>
          <a:bodyPr/>
          <a:lstStyle/>
          <a:p>
            <a:pPr marL="0" indent="0">
              <a:buNone/>
            </a:pPr>
            <a:r>
              <a:rPr lang="en-US" dirty="0"/>
              <a:t>I recommend focusing our efforts in textbook sales and stationary would be for the best. With the highest stores being 737 and 711 respectively, I believe we should make sure that those stores are supplied with textbooks and stationary tools to maximize customer profits.</a:t>
            </a:r>
          </a:p>
        </p:txBody>
      </p:sp>
    </p:spTree>
    <p:extLst>
      <p:ext uri="{BB962C8B-B14F-4D97-AF65-F5344CB8AC3E}">
        <p14:creationId xmlns:p14="http://schemas.microsoft.com/office/powerpoint/2010/main" val="2908917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3133B-A966-EFCA-2770-67F0679864F3}"/>
              </a:ext>
            </a:extLst>
          </p:cNvPr>
          <p:cNvSpPr>
            <a:spLocks noGrp="1"/>
          </p:cNvSpPr>
          <p:nvPr>
            <p:ph type="title"/>
          </p:nvPr>
        </p:nvSpPr>
        <p:spPr>
          <a:xfrm>
            <a:off x="838200" y="2766218"/>
            <a:ext cx="10515600" cy="1325563"/>
          </a:xfrm>
        </p:spPr>
        <p:txBody>
          <a:bodyPr/>
          <a:lstStyle/>
          <a:p>
            <a:pPr algn="ctr"/>
            <a:r>
              <a:rPr lang="en-US" dirty="0"/>
              <a:t>Thank you for your time!</a:t>
            </a:r>
          </a:p>
        </p:txBody>
      </p:sp>
    </p:spTree>
    <p:extLst>
      <p:ext uri="{BB962C8B-B14F-4D97-AF65-F5344CB8AC3E}">
        <p14:creationId xmlns:p14="http://schemas.microsoft.com/office/powerpoint/2010/main" val="28366980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537</Words>
  <Application>Microsoft Office PowerPoint</Application>
  <PresentationFormat>Widescreen</PresentationFormat>
  <Paragraphs>18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EmporiUm Sales Analysis</vt:lpstr>
      <vt:lpstr>What questions were analyzed? </vt:lpstr>
      <vt:lpstr>Who are the territory managers for the sales territories assigned? What are the store IDs and cities for the stores in each assigned sales territory? </vt:lpstr>
      <vt:lpstr>What is monthly total revenue for in-store sales in each of the two sales territories, over the full period covered by the data?</vt:lpstr>
      <vt:lpstr>How would you rank the sales performance of each store in each sales territory? Which are the top-performing stores?</vt:lpstr>
      <vt:lpstr>Comparing the customer ID from the customer list data with the rewards ID from the sales data, who were the top customers in each sales territory? </vt:lpstr>
      <vt:lpstr>What is the number of transactions per month by product category in each assigned territory? What is total sales revenue per month by category? What might this tell you about the most popular products, and where could there be opportunity for growth?</vt:lpstr>
      <vt:lpstr>What is your recommendation for where to focus marketing attention in the next quarter?</vt:lpstr>
      <vt:lpstr>Thank you for your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lily wells</dc:creator>
  <cp:lastModifiedBy>lily wells</cp:lastModifiedBy>
  <cp:revision>9</cp:revision>
  <dcterms:created xsi:type="dcterms:W3CDTF">2026-05-29T08:55:24Z</dcterms:created>
  <dcterms:modified xsi:type="dcterms:W3CDTF">2026-05-29T10:02:40Z</dcterms:modified>
</cp:coreProperties>
</file>